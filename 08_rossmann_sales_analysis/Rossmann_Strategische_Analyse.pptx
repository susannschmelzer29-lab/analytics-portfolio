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1C7293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&lt; 500 m</c:v>
                </c:pt>
                <c:pt idx="1">
                  <c:v>500–1.500 m</c:v>
                </c:pt>
                <c:pt idx="2">
                  <c:v>1,5–5 km</c:v>
                </c:pt>
                <c:pt idx="3">
                  <c:v>&gt; 5 km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7610.89</c:v>
                </c:pt>
                <c:pt idx="1">
                  <c:v>6825.41</c:v>
                </c:pt>
                <c:pt idx="2">
                  <c:v>6790.37</c:v>
                </c:pt>
                <c:pt idx="3">
                  <c:v>6776.37</c:v>
                </c:pt>
              </c:numCache>
            </c:numRef>
          </c:val>
        </c:ser>
        <c:dLbls>
          <c:numFmt formatCode="#,##0&quot; €&quot;" sourceLinked="0"/>
          <c:txPr>
            <a:bodyPr/>
            <a:lstStyle/>
            <a:p>
              <a:pPr>
                <a:defRPr sz="1100" b="1">
                  <a:solidFill>
                    <a:srgbClr val="1F29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8DEE2"/>
            </a:solidFill>
          </a:ln>
        </c:spPr>
        <c:txPr>
          <a:bodyPr/>
          <a:lstStyle/>
          <a:p>
            <a:pPr>
              <a:defRPr sz="1100">
                <a:solidFill>
                  <a:srgbClr val="5A667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8DEE2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A6672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8A94A0"/>
            </a:solidFill>
            <a:ln>
              <a:noFill/>
            </a:ln>
          </c:spPr>
          <c:dPt>
            <c:idx val="0"/>
            <c:spPr>
              <a:solidFill>
                <a:srgbClr val="8A94A0"/>
              </a:solidFill>
            </c:spPr>
          </c:dPt>
          <c:dPt>
            <c:idx val="1"/>
            <c:spPr>
              <a:solidFill>
                <a:srgbClr val="8A94A0"/>
              </a:solidFill>
            </c:spPr>
          </c:dPt>
          <c:dPt>
            <c:idx val="2"/>
            <c:spPr>
              <a:solidFill>
                <a:srgbClr val="8A94A0"/>
              </a:solidFill>
            </c:spPr>
          </c:dPt>
          <c:dPt>
            <c:idx val="3"/>
            <c:spPr>
              <a:solidFill>
                <a:srgbClr val="8A94A0"/>
              </a:solidFill>
            </c:spPr>
          </c:dPt>
          <c:dPt>
            <c:idx val="4"/>
            <c:spPr>
              <a:solidFill>
                <a:srgbClr val="8A94A0"/>
              </a:solidFill>
            </c:spPr>
          </c:dPt>
          <c:dPt>
            <c:idx val="5"/>
            <c:spPr>
              <a:solidFill>
                <a:srgbClr val="8A94A0"/>
              </a:solidFill>
            </c:spPr>
          </c:dPt>
          <c:dPt>
            <c:idx val="6"/>
            <c:spPr>
              <a:solidFill>
                <a:srgbClr val="8A94A0"/>
              </a:solidFill>
            </c:spPr>
          </c:dPt>
          <c:dPt>
            <c:idx val="7"/>
            <c:spPr>
              <a:solidFill>
                <a:srgbClr val="8A94A0"/>
              </a:solidFill>
            </c:spPr>
          </c:dPt>
          <c:dPt>
            <c:idx val="8"/>
            <c:spPr>
              <a:solidFill>
                <a:srgbClr val="8A94A0"/>
              </a:solidFill>
            </c:spPr>
          </c:dPt>
          <c:dPt>
            <c:idx val="9"/>
            <c:spPr>
              <a:solidFill>
                <a:srgbClr val="8A94A0"/>
              </a:solidFill>
            </c:spPr>
          </c:dPt>
          <c:dPt>
            <c:idx val="10"/>
            <c:spPr>
              <a:solidFill>
                <a:srgbClr val="8A94A0"/>
              </a:solidFill>
            </c:spPr>
          </c:dPt>
          <c:dPt>
            <c:idx val="11"/>
            <c:spPr>
              <a:solidFill>
                <a:srgbClr val="C9A227"/>
              </a:solidFill>
            </c:spPr>
          </c:dPt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Mär</c:v>
                </c:pt>
                <c:pt idx="3">
                  <c:v>Apr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Okt</c:v>
                </c:pt>
                <c:pt idx="10">
                  <c:v>Nov</c:v>
                </c:pt>
                <c:pt idx="11">
                  <c:v>Dez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6564.3</c:v>
                </c:pt>
                <c:pt idx="1">
                  <c:v>6589.49</c:v>
                </c:pt>
                <c:pt idx="2">
                  <c:v>6976.82</c:v>
                </c:pt>
                <c:pt idx="3">
                  <c:v>7046.66</c:v>
                </c:pt>
                <c:pt idx="4">
                  <c:v>7106.81</c:v>
                </c:pt>
                <c:pt idx="5">
                  <c:v>7001.4</c:v>
                </c:pt>
                <c:pt idx="6">
                  <c:v>6953.58</c:v>
                </c:pt>
                <c:pt idx="7">
                  <c:v>6649.23</c:v>
                </c:pt>
                <c:pt idx="8">
                  <c:v>6547.47</c:v>
                </c:pt>
                <c:pt idx="9">
                  <c:v>6602.97</c:v>
                </c:pt>
                <c:pt idx="10">
                  <c:v>7188.55</c:v>
                </c:pt>
                <c:pt idx="11">
                  <c:v>8608.96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8DEE2"/>
            </a:solidFill>
          </a:ln>
        </c:spPr>
        <c:txPr>
          <a:bodyPr/>
          <a:lstStyle/>
          <a:p>
            <a:pPr>
              <a:defRPr sz="1100">
                <a:solidFill>
                  <a:srgbClr val="5A667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8DEE2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A6672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1C7293"/>
            </a:solidFill>
            <a:ln>
              <a:noFill/>
            </a:ln>
          </c:spPr>
          <c:dPt>
            <c:idx val="0"/>
            <c:spPr>
              <a:solidFill>
                <a:srgbClr val="1C7293"/>
              </a:solidFill>
            </c:spPr>
          </c:dPt>
          <c:dPt>
            <c:idx val="1"/>
            <c:spPr>
              <a:solidFill>
                <a:srgbClr val="1C7293"/>
              </a:solidFill>
            </c:spPr>
          </c:dPt>
          <c:dPt>
            <c:idx val="2"/>
            <c:spPr>
              <a:solidFill>
                <a:srgbClr val="1C7293"/>
              </a:solidFill>
            </c:spPr>
          </c:dPt>
          <c:dPt>
            <c:idx val="3"/>
            <c:spPr>
              <a:solidFill>
                <a:srgbClr val="1C7293"/>
              </a:solidFill>
            </c:spPr>
          </c:dPt>
          <c:dPt>
            <c:idx val="4"/>
            <c:spPr>
              <a:solidFill>
                <a:srgbClr val="1C7293"/>
              </a:solidFill>
            </c:spPr>
          </c:dPt>
          <c:dPt>
            <c:idx val="5"/>
            <c:spPr>
              <a:solidFill>
                <a:srgbClr val="8A94A0"/>
              </a:solidFill>
            </c:spPr>
          </c:dPt>
          <c:dPt>
            <c:idx val="6"/>
            <c:spPr>
              <a:solidFill>
                <a:srgbClr val="1C7293"/>
              </a:solidFill>
            </c:spPr>
          </c:dPt>
          <c:cat>
            <c:strRef>
              <c:f>Sheet1!$A$2:$A$8</c:f>
              <c:strCache>
                <c:ptCount val="7"/>
                <c:pt idx="0">
                  <c:v>Mo</c:v>
                </c:pt>
                <c:pt idx="1">
                  <c:v>Di</c:v>
                </c:pt>
                <c:pt idx="2">
                  <c:v>Mi</c:v>
                </c:pt>
                <c:pt idx="3">
                  <c:v>Do</c:v>
                </c:pt>
                <c:pt idx="4">
                  <c:v>Fr</c:v>
                </c:pt>
                <c:pt idx="5">
                  <c:v>Sa</c:v>
                </c:pt>
                <c:pt idx="6">
                  <c:v>So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8216.25</c:v>
                </c:pt>
                <c:pt idx="1">
                  <c:v>7088.41</c:v>
                </c:pt>
                <c:pt idx="2">
                  <c:v>6728.79</c:v>
                </c:pt>
                <c:pt idx="3">
                  <c:v>6768.21</c:v>
                </c:pt>
                <c:pt idx="4">
                  <c:v>7073.03</c:v>
                </c:pt>
                <c:pt idx="5">
                  <c:v>5875.08</c:v>
                </c:pt>
                <c:pt idx="6">
                  <c:v>8224.72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8DEE2"/>
            </a:solidFill>
          </a:ln>
        </c:spPr>
        <c:txPr>
          <a:bodyPr/>
          <a:lstStyle/>
          <a:p>
            <a:pPr>
              <a:defRPr sz="1100">
                <a:solidFill>
                  <a:srgbClr val="5A667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8DEE2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A6672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B23A4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Weihnachten</c:v>
                </c:pt>
                <c:pt idx="1">
                  <c:v>Ostern</c:v>
                </c:pt>
                <c:pt idx="2">
                  <c:v>Feiertag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40.1</c:v>
                </c:pt>
                <c:pt idx="1">
                  <c:v>42.2</c:v>
                </c:pt>
                <c:pt idx="2">
                  <c:v>22.1</c:v>
                </c:pt>
              </c:numCache>
            </c:numRef>
          </c:val>
        </c:ser>
        <c:dLbls>
          <c:numFmt formatCode="&quot;+&quot;0.0&quot;%&quot;" sourceLinked="0"/>
          <c:txPr>
            <a:bodyPr/>
            <a:lstStyle/>
            <a:p>
              <a:pPr>
                <a:defRPr sz="1100" b="1">
                  <a:solidFill>
                    <a:srgbClr val="1F29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8DEE2"/>
            </a:solidFill>
          </a:ln>
        </c:spPr>
        <c:txPr>
          <a:bodyPr/>
          <a:lstStyle/>
          <a:p>
            <a:pPr>
              <a:defRPr sz="1100">
                <a:solidFill>
                  <a:srgbClr val="5A667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8DEE2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A6672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1C7293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Weihnachten</c:v>
                </c:pt>
                <c:pt idx="1">
                  <c:v>Ostern</c:v>
                </c:pt>
                <c:pt idx="2">
                  <c:v>Feiertag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34.0</c:v>
                </c:pt>
                <c:pt idx="1">
                  <c:v>36.0</c:v>
                </c:pt>
                <c:pt idx="2">
                  <c:v>16.7</c:v>
                </c:pt>
              </c:numCache>
            </c:numRef>
          </c:val>
        </c:ser>
        <c:dLbls>
          <c:numFmt formatCode="&quot;+&quot;0.0&quot;%&quot;" sourceLinked="0"/>
          <c:txPr>
            <a:bodyPr/>
            <a:lstStyle/>
            <a:p>
              <a:pPr>
                <a:defRPr sz="1100" b="1">
                  <a:solidFill>
                    <a:srgbClr val="1F29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8DEE2"/>
            </a:solidFill>
          </a:ln>
        </c:spPr>
        <c:txPr>
          <a:bodyPr/>
          <a:lstStyle/>
          <a:p>
            <a:pPr>
              <a:defRPr sz="1100">
                <a:solidFill>
                  <a:srgbClr val="5A667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8DEE2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A6672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8A94A0"/>
            </a:solidFill>
            <a:ln>
              <a:noFill/>
            </a:ln>
          </c:spPr>
          <c:dPt>
            <c:idx val="0"/>
            <c:spPr>
              <a:solidFill>
                <a:srgbClr val="8A94A0"/>
              </a:solidFill>
            </c:spPr>
          </c:dPt>
          <c:dPt>
            <c:idx val="1"/>
            <c:spPr>
              <a:solidFill>
                <a:srgbClr val="C9A227"/>
              </a:solidFill>
            </c:spPr>
          </c:dPt>
          <c:cat>
            <c:strRef>
              <c:f>Sheet1!$A$2:$A$3</c:f>
              <c:strCache>
                <c:ptCount val="2"/>
                <c:pt idx="0">
                  <c:v>Ohne Promo</c:v>
                </c:pt>
                <c:pt idx="1">
                  <c:v>Mit Promo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5929.83</c:v>
                </c:pt>
                <c:pt idx="1">
                  <c:v>8228.74</c:v>
                </c:pt>
              </c:numCache>
            </c:numRef>
          </c:val>
        </c:ser>
        <c:dLbls>
          <c:numFmt formatCode="#,##0&quot; €&quot;" sourceLinked="0"/>
          <c:txPr>
            <a:bodyPr/>
            <a:lstStyle/>
            <a:p>
              <a:pPr>
                <a:defRPr sz="1100" b="1">
                  <a:solidFill>
                    <a:srgbClr val="1F29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8DEE2"/>
            </a:solidFill>
          </a:ln>
        </c:spPr>
        <c:txPr>
          <a:bodyPr/>
          <a:lstStyle/>
          <a:p>
            <a:pPr>
              <a:defRPr sz="1100">
                <a:solidFill>
                  <a:srgbClr val="5A667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8DEE2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A6672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1C7293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Typ a</c:v>
                </c:pt>
                <c:pt idx="1">
                  <c:v>Typ d</c:v>
                </c:pt>
                <c:pt idx="2">
                  <c:v>Typ c</c:v>
                </c:pt>
                <c:pt idx="3">
                  <c:v>Typ b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43.0</c:v>
                </c:pt>
                <c:pt idx="1">
                  <c:v>36.9</c:v>
                </c:pt>
                <c:pt idx="2">
                  <c:v>33.4</c:v>
                </c:pt>
                <c:pt idx="3">
                  <c:v>18.2</c:v>
                </c:pt>
              </c:numCache>
            </c:numRef>
          </c:val>
        </c:ser>
        <c:dLbls>
          <c:numFmt formatCode="&quot;+&quot;0.0&quot;%&quot;" sourceLinked="0"/>
          <c:txPr>
            <a:bodyPr/>
            <a:lstStyle/>
            <a:p>
              <a:pPr>
                <a:defRPr sz="1100" b="1">
                  <a:solidFill>
                    <a:srgbClr val="1F29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8DEE2"/>
            </a:solidFill>
          </a:ln>
        </c:spPr>
        <c:txPr>
          <a:bodyPr/>
          <a:lstStyle/>
          <a:p>
            <a:pPr>
              <a:defRPr sz="1100">
                <a:solidFill>
                  <a:srgbClr val="5A667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8DEE2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A6672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9A227"/>
                </a:solidFill>
                <a:latin typeface="Calibri"/>
              </a:rPr>
              <a:t>STRATEGISCHE DATENANALYSE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mbria"/>
              </a:rPr>
              <a:t>Rossmann Store Sales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204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D8DEE2"/>
                </a:solidFill>
                <a:latin typeface="Calibri"/>
              </a:rPr>
              <a:t>Sechs strategische Fragen zu 1.115 Filialen, 2013–2015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94A0"/>
                </a:solidFill>
                <a:latin typeface="Calibri"/>
              </a:rPr>
              <a:t>Datenbasis: Kaggle Rossmann Store Sales · 1.017.209 Zeilen · Python-Analyse-Pipeline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45066"/>
                </a:solidFill>
                <a:latin typeface="Cambria"/>
              </a:rPr>
              <a:t>Sechs strategische Fragen ans Filialnetz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52044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0000" dir="5400000" rotWithShape="0">
              <a:srgbClr val="1F29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783080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C9A227"/>
                </a:solidFill>
                <a:latin typeface="Cambr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377440"/>
            <a:ext cx="30083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45066"/>
                </a:solidFill>
                <a:latin typeface="Calibri"/>
              </a:rPr>
              <a:t>Store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770632"/>
            <a:ext cx="300837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A6672"/>
                </a:solidFill>
                <a:latin typeface="Calibri"/>
              </a:rPr>
              <a:t>Welche Filialen performen am besten – und warum?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00200"/>
            <a:ext cx="352044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0000" dir="5400000" rotWithShape="0">
              <a:srgbClr val="1F29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783080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C9A227"/>
                </a:solidFill>
                <a:latin typeface="Cambr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377440"/>
            <a:ext cx="30083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45066"/>
                </a:solidFill>
                <a:latin typeface="Calibri"/>
              </a:rPr>
              <a:t>Standortfaktoren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770632"/>
            <a:ext cx="300837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A6672"/>
                </a:solidFill>
                <a:latin typeface="Calibri"/>
              </a:rPr>
              <a:t>Wie wirkt sich Wettbewerb in der Nähe auf den Umsatz aus?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00200"/>
            <a:ext cx="352044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0000" dir="5400000" rotWithShape="0">
              <a:srgbClr val="1F29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783080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C9A227"/>
                </a:solidFill>
                <a:latin typeface="Cambr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2377440"/>
            <a:ext cx="30083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45066"/>
                </a:solidFill>
                <a:latin typeface="Calibri"/>
              </a:rPr>
              <a:t>Saisonalität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2770632"/>
            <a:ext cx="300837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A6672"/>
                </a:solidFill>
                <a:latin typeface="Calibri"/>
              </a:rPr>
              <a:t>Welche saisonalen Muster gibt es über Monat und Wochentag?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77640"/>
            <a:ext cx="352044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0000" dir="5400000" rotWithShape="0">
              <a:srgbClr val="1F29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160520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C9A227"/>
                </a:solidFill>
                <a:latin typeface="Cambria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754880"/>
            <a:ext cx="30083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45066"/>
                </a:solidFill>
                <a:latin typeface="Calibri"/>
              </a:rPr>
              <a:t>Feiertage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5148072"/>
            <a:ext cx="300837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A6672"/>
                </a:solidFill>
                <a:latin typeface="Calibri"/>
              </a:rPr>
              <a:t>Wie stark wirken Feiertage und Schulferien wirklich – naiv vs. korrigiert?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977640"/>
            <a:ext cx="352044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0000" dir="5400000" rotWithShape="0">
              <a:srgbClr val="1F29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3712" y="4160520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C9A227"/>
                </a:solidFill>
                <a:latin typeface="Cambria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4754880"/>
            <a:ext cx="30083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45066"/>
                </a:solidFill>
                <a:latin typeface="Calibri"/>
              </a:rPr>
              <a:t>Promotions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5148072"/>
            <a:ext cx="300837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A6672"/>
                </a:solidFill>
                <a:latin typeface="Calibri"/>
              </a:rPr>
              <a:t>Welche Promotions sind am wirkungsvollsten, und für wen?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977640"/>
            <a:ext cx="352044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0000" dir="5400000" rotWithShape="0">
              <a:srgbClr val="1F29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2752" y="4160520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C9A227"/>
                </a:solidFill>
                <a:latin typeface="Cambria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4754880"/>
            <a:ext cx="30083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45066"/>
                </a:solidFill>
                <a:latin typeface="Calibri"/>
              </a:rPr>
              <a:t>Filialtypen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5148072"/>
            <a:ext cx="300837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A6672"/>
                </a:solidFill>
                <a:latin typeface="Calibri"/>
              </a:rPr>
              <a:t>Welche strukturellen Unterschiede bestehen zwischen Filialtypen?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6672"/>
                </a:solidFill>
                <a:latin typeface="Calibri"/>
              </a:rPr>
              <a:t>Rossmann Store Sales — Strategische Analyse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A6672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45066"/>
                </a:solidFill>
                <a:latin typeface="Cambria"/>
              </a:rPr>
              <a:t>Vier Erkenntnisse mit unmittelbarer Relevanz fürs 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39496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0000" dir="5400000" rotWithShape="0">
              <a:srgbClr val="1F29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4672" y="185623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F2933"/>
                </a:solidFill>
                <a:latin typeface="Calibri"/>
              </a:rPr>
              <a:t>Dezember treibt das Geschäft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258568"/>
            <a:ext cx="4937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A6672"/>
                </a:solidFill>
                <a:latin typeface="Calibri"/>
              </a:rPr>
              <a:t>Der Umsatz pro Tag liegt im Dezember bei 8.609 € — rund 25–30% über allen anderen Monaten. Personal- und Warenplanung sollte das Weihnachtsgeschäft klar priorisieren.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00200"/>
            <a:ext cx="539496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0000" dir="5400000" rotWithShape="0">
              <a:srgbClr val="1F29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28232" y="185623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B2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78308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F2933"/>
                </a:solidFill>
                <a:latin typeface="Calibri"/>
              </a:rPr>
              <a:t>Naive Feiertags-Kennzahl täuscht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2258568"/>
            <a:ext cx="4937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A6672"/>
                </a:solidFill>
                <a:latin typeface="Calibri"/>
              </a:rPr>
              <a:t>Der oft zitierte Feiertags-Uplift von +40% ist zur Hälfte ein Auswahleffekt: Nur 156 von 1.115 Filialen öffnen überhaupt an Feiertagen — und das sind überdurchschnittlich starke Filialen. Der belastbare Effekt liegt bei +17 bis +36%.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539496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0000" dir="5400000" rotWithShape="0">
              <a:srgbClr val="1F29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" y="418795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1148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F2933"/>
                </a:solidFill>
                <a:latin typeface="Calibri"/>
              </a:rPr>
              <a:t>Promotions wirken – aber nicht überall gleich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4590288"/>
            <a:ext cx="4937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A6672"/>
                </a:solidFill>
                <a:latin typeface="Calibri"/>
              </a:rPr>
              <a:t>Promotions steigern den Tagesumsatz im Schnitt um 38,8%. Filialtyp a reagiert mit +43% am stärksten, Filialtyp b (bereits umsatzstark) nur mit +18%.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931920"/>
            <a:ext cx="539496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0000" dir="5400000" rotWithShape="0">
              <a:srgbClr val="1F29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28232" y="418795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45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1148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F2933"/>
                </a:solidFill>
                <a:latin typeface="Calibri"/>
              </a:rPr>
              <a:t>Filialtyp b ist ein Sonderfall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4590288"/>
            <a:ext cx="4937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A6672"/>
                </a:solidFill>
                <a:latin typeface="Calibri"/>
              </a:rPr>
              <a:t>Nur 17 von 1.115 Filialen, aber höchster Umsatz pro Tag (10.233 €) bei gleichzeitig niedrigstem Bon (5,13 €) — ein anderes Geschäftsmodell als der Rest des Netzes.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6672"/>
                </a:solidFill>
                <a:latin typeface="Calibri"/>
              </a:rPr>
              <a:t>Rossmann Store Sales — Strategische Analyse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A667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KENNZAHLEN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45066"/>
                </a:solidFill>
                <a:latin typeface="Cambria"/>
              </a:rPr>
              <a:t>Das Filialnetz auf einen Blick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0000" dir="5400000" rotWithShape="0">
              <a:srgbClr val="1F29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792224"/>
            <a:ext cx="22951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672"/>
                </a:solidFill>
                <a:latin typeface="Calibri"/>
              </a:rPr>
              <a:t>Gesamtumsatz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103120"/>
            <a:ext cx="229514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45066"/>
                </a:solidFill>
                <a:latin typeface="Cambria"/>
              </a:rPr>
              <a:t>5.873,2 Mio. 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0000" dir="5400000" rotWithShape="0">
              <a:srgbClr val="1F29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0168" y="1792224"/>
            <a:ext cx="22951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672"/>
                </a:solidFill>
                <a:latin typeface="Calibri"/>
              </a:rPr>
              <a:t>Ø Umsatz/Filiale/Tag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0168" y="2103120"/>
            <a:ext cx="229514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45066"/>
                </a:solidFill>
                <a:latin typeface="Cambria"/>
              </a:rPr>
              <a:t>6.956 €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0000" dir="5400000" rotWithShape="0">
              <a:srgbClr val="1F29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792224"/>
            <a:ext cx="22951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672"/>
                </a:solidFill>
                <a:latin typeface="Calibri"/>
              </a:rPr>
              <a:t>Ø Kunden/Filiale/Tag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2103120"/>
            <a:ext cx="229514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45066"/>
                </a:solidFill>
                <a:latin typeface="Cambria"/>
              </a:rPr>
              <a:t>763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164592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0000" dir="5400000" rotWithShape="0">
              <a:srgbClr val="1F29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90888" y="1792224"/>
            <a:ext cx="22951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672"/>
                </a:solidFill>
                <a:latin typeface="Calibri"/>
              </a:rPr>
              <a:t>Ø Umsatz/Kunde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0888" y="2103120"/>
            <a:ext cx="229514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45066"/>
                </a:solidFill>
                <a:latin typeface="Cambria"/>
              </a:rPr>
              <a:t>9,49 €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4612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0000" dir="5400000" rotWithShape="0">
              <a:srgbClr val="1F29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392424"/>
            <a:ext cx="22951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672"/>
                </a:solidFill>
                <a:latin typeface="Calibri"/>
              </a:rPr>
              <a:t>Öffnungsquote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703320"/>
            <a:ext cx="229514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45066"/>
                </a:solidFill>
                <a:latin typeface="Cambria"/>
              </a:rPr>
              <a:t>83,0%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29000" y="324612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0000" dir="5400000" rotWithShape="0">
              <a:srgbClr val="1F29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30168" y="3392424"/>
            <a:ext cx="22951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672"/>
                </a:solidFill>
                <a:latin typeface="Calibri"/>
              </a:rPr>
              <a:t>Promo-Uplift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0168" y="3703320"/>
            <a:ext cx="229514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45066"/>
                </a:solidFill>
                <a:latin typeface="Cambria"/>
              </a:rPr>
              <a:t>38,8%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24612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0000" dir="5400000" rotWithShape="0">
              <a:srgbClr val="1F29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3392424"/>
            <a:ext cx="22951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672"/>
                </a:solidFill>
                <a:latin typeface="Calibri"/>
              </a:rPr>
              <a:t>Top/Bottom-Dezil-Faktor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3703320"/>
            <a:ext cx="229514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45066"/>
                </a:solidFill>
                <a:latin typeface="Cambria"/>
              </a:rPr>
              <a:t>3,1×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89720" y="324612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0000" dir="5400000" rotWithShape="0">
              <a:srgbClr val="1F29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90888" y="3392424"/>
            <a:ext cx="22951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672"/>
                </a:solidFill>
                <a:latin typeface="Calibri"/>
              </a:rPr>
              <a:t>Anzahl Filialen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90888" y="3703320"/>
            <a:ext cx="229514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45066"/>
                </a:solidFill>
                <a:latin typeface="Cambria"/>
              </a:rPr>
              <a:t>1.115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6672"/>
                </a:solidFill>
                <a:latin typeface="Calibri"/>
              </a:rPr>
              <a:t>Rossmann Store Sales — Strategische Analyse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A667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FRAGE 1 · STORE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45066"/>
                </a:solidFill>
                <a:latin typeface="Cambria"/>
              </a:rPr>
              <a:t>Filial-Ranking: robust statt ausreißergetrieben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3832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0000" dir="5400000" rotWithShape="0">
              <a:srgbClr val="1F29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792224"/>
            <a:ext cx="29809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672"/>
                </a:solidFill>
                <a:latin typeface="Calibri"/>
              </a:rPr>
              <a:t>Top-Filiale (#817, Typ 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103120"/>
            <a:ext cx="298094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C9A227"/>
                </a:solidFill>
                <a:latin typeface="Cambria"/>
              </a:rPr>
              <a:t>21.757 €/Tag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337560"/>
            <a:ext cx="33832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0000" dir="5400000" rotWithShape="0">
              <a:srgbClr val="1F29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483864"/>
            <a:ext cx="29809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672"/>
                </a:solidFill>
                <a:latin typeface="Calibri"/>
              </a:rPr>
              <a:t>Bottom-Filiale (#307, Typ 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794760"/>
            <a:ext cx="298094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B23A48"/>
                </a:solidFill>
                <a:latin typeface="Cambria"/>
              </a:rPr>
              <a:t>2.704 €/Tag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645920"/>
            <a:ext cx="7452360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0000" dir="5400000" rotWithShape="0">
              <a:srgbClr val="1F29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82880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2933"/>
                </a:solidFill>
                <a:latin typeface="Calibri"/>
              </a:rPr>
              <a:t>Faktor 8 vs. Faktor 3 — welche Kennzahl gehört ins Reporting?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331720"/>
            <a:ext cx="69494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37160" marL="137160">
              <a:spcAft>
                <a:spcPts val="1400"/>
              </a:spcAft>
              <a:buFont typeface="Calibri"/>
              <a:buChar char="–"/>
            </a:pPr>
            <a:r>
              <a:rPr sz="1350">
                <a:solidFill>
                  <a:srgbClr val="1F2933"/>
                </a:solidFill>
                <a:latin typeface="Calibri"/>
              </a:rPr>
              <a:t>Roher Min/Max-Vergleich (stärkste ÷ schwächste Filiale) ergibt Faktor 8 — getrieben von wenigen Extremfilialen.</a:t>
            </a:r>
          </a:p>
          <a:p>
            <a:pPr algn="l" indent="-137160" marL="137160">
              <a:spcAft>
                <a:spcPts val="1400"/>
              </a:spcAft>
              <a:buFont typeface="Calibri"/>
              <a:buChar char="–"/>
            </a:pPr>
            <a:r>
              <a:rPr sz="1350">
                <a:solidFill>
                  <a:srgbClr val="1F2933"/>
                </a:solidFill>
                <a:latin typeface="Calibri"/>
              </a:rPr>
              <a:t>Der robuste Vergleich (Top-Dezil ÷ Bottom-Dezil, je 10% der Filialen) ergibt Faktor 3,1 — die belastbare Kennzahl fürs Management-Reporting.</a:t>
            </a:r>
          </a:p>
          <a:p>
            <a:pPr algn="l" indent="-137160" marL="137160">
              <a:spcAft>
                <a:spcPts val="1400"/>
              </a:spcAft>
              <a:buFont typeface="Calibri"/>
              <a:buChar char="–"/>
            </a:pPr>
            <a:r>
              <a:rPr sz="1350">
                <a:solidFill>
                  <a:srgbClr val="1F2933"/>
                </a:solidFill>
                <a:latin typeface="Calibri"/>
              </a:rPr>
              <a:t>Alle 1.115 Filialen sind in einem filterbaren Ranking mit Rang und Perzentil hinterlegt (siehe interaktives Dashboard).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6672"/>
                </a:solidFill>
                <a:latin typeface="Calibri"/>
              </a:rPr>
              <a:t>Rossmann Store Sales — Strategische Analyse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A667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FRAGE 2 · STANDORTFAKTOREN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45066"/>
                </a:solidFill>
                <a:latin typeface="Cambria"/>
              </a:rPr>
              <a:t>Nähe zur Konkurrenz schadet dem Umsatz nicht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91640"/>
          <a:ext cx="667512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452360" y="1691640"/>
            <a:ext cx="4160520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0000" dir="5400000" rotWithShape="0">
              <a:srgbClr val="1F29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26679" y="1874519"/>
            <a:ext cx="3657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F2933"/>
                </a:solidFill>
                <a:latin typeface="Calibri"/>
              </a:rPr>
              <a:t>Gegen die Intuition: Filialen mit Wettbewerb</a:t>
            </a:r>
          </a:p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F2933"/>
                </a:solidFill>
                <a:latin typeface="Calibri"/>
              </a:rPr>
              <a:t>in unter 500 m Entfernung verkaufen am meisten.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2743200"/>
            <a:ext cx="36576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37160" marL="137160">
              <a:spcAft>
                <a:spcPts val="1200"/>
              </a:spcAft>
              <a:buFont typeface="Calibri"/>
              <a:buChar char="–"/>
            </a:pPr>
            <a:r>
              <a:rPr sz="1250">
                <a:solidFill>
                  <a:srgbClr val="1F2933"/>
                </a:solidFill>
                <a:latin typeface="Calibri"/>
              </a:rPr>
              <a:t>Korrelation Umsatz ↔ Distanz: r ≈ -0,05 — praktisch kein linearer Zusammenhang.</a:t>
            </a:r>
          </a:p>
          <a:p>
            <a:pPr algn="l" indent="-137160" marL="137160">
              <a:spcAft>
                <a:spcPts val="1200"/>
              </a:spcAft>
              <a:buFont typeface="Calibri"/>
              <a:buChar char="–"/>
            </a:pPr>
            <a:r>
              <a:rPr sz="1250">
                <a:solidFill>
                  <a:srgbClr val="1F2933"/>
                </a:solidFill>
                <a:latin typeface="Calibri"/>
              </a:rPr>
              <a:t>Interpretation: Lagequalität (Frequenz, Sichtbarkeit) schlägt reine Distanz zum nächsten Wettbewerber.</a:t>
            </a:r>
          </a:p>
          <a:p>
            <a:pPr algn="l" indent="-137160" marL="137160">
              <a:spcAft>
                <a:spcPts val="1200"/>
              </a:spcAft>
              <a:buFont typeface="Calibri"/>
              <a:buChar char="–"/>
            </a:pPr>
            <a:r>
              <a:rPr sz="1250">
                <a:solidFill>
                  <a:srgbClr val="1F2933"/>
                </a:solidFill>
                <a:latin typeface="Calibri"/>
              </a:rPr>
              <a:t>Der Datensatz enthält keine Geodaten — ein Kartenblick ist nicht möglich; das Store-Ranking ersetzt diese Perspektive.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6672"/>
                </a:solidFill>
                <a:latin typeface="Calibri"/>
              </a:rPr>
              <a:t>Rossmann Store Sales — Strategische Analyse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A667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FRAGE 3 · SAISONALITÄT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45066"/>
                </a:solidFill>
                <a:latin typeface="Cambria"/>
              </a:rPr>
              <a:t>Dezember, Montag und Sonntag sind die Spitzentage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A6672"/>
                </a:solidFill>
                <a:latin typeface="Calibri"/>
              </a:rPr>
              <a:t>Ø Umsatz je Monat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920240"/>
          <a:ext cx="548640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55080" y="155448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A6672"/>
                </a:solidFill>
                <a:latin typeface="Calibri"/>
              </a:rPr>
              <a:t>Ø Umsatz je Wochentag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355080" y="1920240"/>
          <a:ext cx="5303520" cy="37490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6672"/>
                </a:solidFill>
                <a:latin typeface="Calibri"/>
              </a:rPr>
              <a:t>Rossmann Store Sales — Strategische Analyse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A667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FRAGE 4 · FEIERTAGE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45066"/>
                </a:solidFill>
                <a:latin typeface="Cambria"/>
              </a:rPr>
              <a:t>Der Feiertags-Uplift: naiv vs. korrigiert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052560" y="50292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FCF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52560" y="502920"/>
            <a:ext cx="2606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8A6D13"/>
                </a:solidFill>
                <a:latin typeface="Calibri"/>
              </a:rPr>
              <a:t>ANALYTISCHES KERNSTÜCK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B23A48"/>
                </a:solidFill>
                <a:latin typeface="Calibri"/>
              </a:rPr>
              <a:t>Naiv — alle Filialen, unkorrigiert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874519"/>
          <a:ext cx="548640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55080" y="150876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5066"/>
                </a:solidFill>
                <a:latin typeface="Calibri"/>
              </a:rPr>
              <a:t>Korrigiert — nur die 156 Filialen, die an Feiertagen öffnen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355080" y="1874519"/>
          <a:ext cx="5303520" cy="37490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6672"/>
                </a:solidFill>
                <a:latin typeface="Calibri"/>
              </a:rPr>
              <a:t>Rossmann Store Sales — Strategische Analyse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A667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FRAGE 4 · FEIERTAGE (FORTSETZUNG)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45066"/>
                </a:solidFill>
                <a:latin typeface="Cambria"/>
              </a:rPr>
              <a:t>Warum die naive Zahl in die Irre führt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6675120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0000" dir="5400000" rotWithShape="0">
              <a:srgbClr val="1F29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2933"/>
                </a:solidFill>
                <a:latin typeface="Calibri"/>
              </a:rPr>
              <a:t>Der Auswahleffekt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612648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37160" marL="137160">
              <a:spcAft>
                <a:spcPts val="1400"/>
              </a:spcAft>
              <a:buFont typeface="Calibri"/>
              <a:buChar char="–"/>
            </a:pPr>
            <a:r>
              <a:rPr sz="1300">
                <a:solidFill>
                  <a:srgbClr val="1F2933"/>
                </a:solidFill>
                <a:latin typeface="Calibri"/>
              </a:rPr>
              <a:t>Nur 156 von 1.115 Filialen (14%) öffnen überhaupt an Feiertagen.</a:t>
            </a:r>
          </a:p>
          <a:p>
            <a:pPr algn="l" indent="-137160" marL="137160">
              <a:spcAft>
                <a:spcPts val="1400"/>
              </a:spcAft>
              <a:buFont typeface="Calibri"/>
              <a:buChar char="–"/>
            </a:pPr>
            <a:r>
              <a:rPr sz="1300">
                <a:solidFill>
                  <a:srgbClr val="1F2933"/>
                </a:solidFill>
                <a:latin typeface="Calibri"/>
              </a:rPr>
              <a:t>Diese Filialen sind überdurchschnittlich stark — sie heben den naiven Durchschnitt künstlich an.</a:t>
            </a:r>
          </a:p>
          <a:p>
            <a:pPr algn="l" indent="-137160" marL="137160">
              <a:spcAft>
                <a:spcPts val="1400"/>
              </a:spcAft>
              <a:buFont typeface="Calibri"/>
              <a:buChar char="–"/>
            </a:pPr>
            <a:r>
              <a:rPr sz="1300">
                <a:solidFill>
                  <a:srgbClr val="1F2933"/>
                </a:solidFill>
                <a:latin typeface="Calibri"/>
              </a:rPr>
              <a:t>Der korrigierte Vergleich misst denselben Filialen-Pool an Feiertagen gegen normale Tage — und zeigt den echten, kleineren, aber realen Effekt.</a:t>
            </a:r>
          </a:p>
          <a:p>
            <a:pPr algn="l" indent="-137160" marL="137160">
              <a:spcAft>
                <a:spcPts val="1400"/>
              </a:spcAft>
              <a:buFont typeface="Calibri"/>
              <a:buChar char="–"/>
            </a:pPr>
            <a:r>
              <a:rPr sz="1300">
                <a:solidFill>
                  <a:srgbClr val="1F2933"/>
                </a:solidFill>
                <a:latin typeface="Calibri"/>
              </a:rPr>
              <a:t>Konsequenz fürs Reporting: Uplift-Kennzahlen immer auf Vergleichbarkeit der Grundgesamtheit prüfen, bevor sie ins Management-Dashboard wandern.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1645920"/>
            <a:ext cx="4160520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0000" dir="5400000" rotWithShape="0">
              <a:srgbClr val="1F29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79" y="18288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2933"/>
                </a:solidFill>
                <a:latin typeface="Calibri"/>
              </a:rPr>
              <a:t>Schulferien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23317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A6672"/>
                </a:solidFill>
                <a:latin typeface="Calibri"/>
              </a:rPr>
              <a:t>Moderater, aber sichtbarer Effekt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2834640"/>
            <a:ext cx="16916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0000" dir="5400000" rotWithShape="0">
              <a:srgbClr val="1F29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7847" y="2980944"/>
            <a:ext cx="12893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672"/>
                </a:solidFill>
                <a:latin typeface="Calibri"/>
              </a:rPr>
              <a:t>Normal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7847" y="3291840"/>
            <a:ext cx="12893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8A94A0"/>
                </a:solidFill>
                <a:latin typeface="Cambria"/>
              </a:rPr>
              <a:t>6.897 €/Tag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55480" y="2834640"/>
            <a:ext cx="16916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0000" dir="5400000" rotWithShape="0">
              <a:srgbClr val="1F29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56648" y="2980944"/>
            <a:ext cx="12893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672"/>
                </a:solidFill>
                <a:latin typeface="Calibri"/>
              </a:rPr>
              <a:t>Schulferien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56648" y="3291840"/>
            <a:ext cx="12893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C7293"/>
                </a:solidFill>
                <a:latin typeface="Cambria"/>
              </a:rPr>
              <a:t>7.201 €/Tag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4297680"/>
            <a:ext cx="3657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A6672"/>
                </a:solidFill>
                <a:latin typeface="Calibri"/>
              </a:rPr>
              <a:t>+4,4% Umsatz während der Schulferien — real, aber deutlich kleiner als der Feiertags-Effekt.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6672"/>
                </a:solidFill>
                <a:latin typeface="Calibri"/>
              </a:rPr>
              <a:t>Rossmann Store Sales — Strategische Analyse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A667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FRAGE 5 · PROMOTIONS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45066"/>
                </a:solidFill>
                <a:latin typeface="Cambria"/>
              </a:rPr>
              <a:t>Promotions wirken — abhängig vom Filialtyp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A6672"/>
                </a:solidFill>
                <a:latin typeface="Calibri"/>
              </a:rPr>
              <a:t>Uplift gesamt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920240"/>
          <a:ext cx="512064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89320" y="155448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A6672"/>
                </a:solidFill>
                <a:latin typeface="Calibri"/>
              </a:rPr>
              <a:t>Uplift nach Filialtyp (Ø 38,8%)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989320" y="1920240"/>
          <a:ext cx="5669280" cy="37490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6672"/>
                </a:solidFill>
                <a:latin typeface="Calibri"/>
              </a:rPr>
              <a:t>Rossmann Store Sales — Strategische Analyse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A667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FRAGE 6 · FILIALTYPEN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45066"/>
                </a:solidFill>
                <a:latin typeface="Cambria"/>
              </a:rPr>
              <a:t>Filialtyp b: hoher Umsatz, niedriger Bon, anderes Modell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557784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143000"/>
                <a:gridCol w="1143000"/>
                <a:gridCol w="1143000"/>
                <a:gridCol w="1143000"/>
              </a:tblGrid>
              <a:tr h="466344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1450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Umsatz/Tag</a:t>
                      </a:r>
                    </a:p>
                  </a:txBody>
                  <a:tcPr>
                    <a:solidFill>
                      <a:srgbClr val="1450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Kunden/Tag</a:t>
                      </a:r>
                    </a:p>
                  </a:txBody>
                  <a:tcPr>
                    <a:solidFill>
                      <a:srgbClr val="1450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Bon</a:t>
                      </a:r>
                    </a:p>
                  </a:txBody>
                  <a:tcPr>
                    <a:solidFill>
                      <a:srgbClr val="1450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 Filialen</a:t>
                      </a:r>
                    </a:p>
                  </a:txBody>
                  <a:tcPr>
                    <a:solidFill>
                      <a:srgbClr val="145066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45066"/>
                          </a:solidFill>
                          <a:latin typeface="Calibri"/>
                        </a:defRPr>
                      </a:pPr>
                      <a:r>
                        <a:t>Typ 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3"/>
                          </a:solidFill>
                          <a:latin typeface="Calibri"/>
                        </a:defRPr>
                      </a:pPr>
                      <a:r>
                        <a:t>6.926 €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3"/>
                          </a:solidFill>
                          <a:latin typeface="Calibri"/>
                        </a:defRPr>
                      </a:pPr>
                      <a:r>
                        <a:t>795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3"/>
                          </a:solidFill>
                          <a:latin typeface="Calibri"/>
                        </a:defRPr>
                      </a:pPr>
                      <a:r>
                        <a:t>8,85 €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3"/>
                          </a:solidFill>
                          <a:latin typeface="Calibri"/>
                        </a:defRPr>
                      </a:pPr>
                      <a:r>
                        <a:t>602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45066"/>
                          </a:solidFill>
                          <a:latin typeface="Calibri"/>
                        </a:defRPr>
                      </a:pPr>
                      <a:r>
                        <a:t>Typ b</a:t>
                      </a:r>
                    </a:p>
                  </a:txBody>
                  <a:tcPr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3"/>
                          </a:solidFill>
                          <a:latin typeface="Calibri"/>
                        </a:defRPr>
                      </a:pPr>
                      <a:r>
                        <a:t>10.233 €</a:t>
                      </a:r>
                    </a:p>
                  </a:txBody>
                  <a:tcPr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3"/>
                          </a:solidFill>
                          <a:latin typeface="Calibri"/>
                        </a:defRPr>
                      </a:pPr>
                      <a:r>
                        <a:t>2.022</a:t>
                      </a:r>
                    </a:p>
                  </a:txBody>
                  <a:tcPr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3"/>
                          </a:solidFill>
                          <a:latin typeface="Calibri"/>
                        </a:defRPr>
                      </a:pPr>
                      <a:r>
                        <a:t>5,13 €</a:t>
                      </a:r>
                    </a:p>
                  </a:txBody>
                  <a:tcPr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3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EF6F8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45066"/>
                          </a:solidFill>
                          <a:latin typeface="Calibri"/>
                        </a:defRPr>
                      </a:pPr>
                      <a:r>
                        <a:t>Typ 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3"/>
                          </a:solidFill>
                          <a:latin typeface="Calibri"/>
                        </a:defRPr>
                      </a:pPr>
                      <a:r>
                        <a:t>6.933 €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3"/>
                          </a:solidFill>
                          <a:latin typeface="Calibri"/>
                        </a:defRPr>
                      </a:pPr>
                      <a:r>
                        <a:t>816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3"/>
                          </a:solidFill>
                          <a:latin typeface="Calibri"/>
                        </a:defRPr>
                      </a:pPr>
                      <a:r>
                        <a:t>8,63 €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3"/>
                          </a:solidFill>
                          <a:latin typeface="Calibri"/>
                        </a:defRPr>
                      </a:pPr>
                      <a:r>
                        <a:t>148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45066"/>
                          </a:solidFill>
                          <a:latin typeface="Calibri"/>
                        </a:defRPr>
                      </a:pPr>
                      <a:r>
                        <a:t>Typ 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3"/>
                          </a:solidFill>
                          <a:latin typeface="Calibri"/>
                        </a:defRPr>
                      </a:pPr>
                      <a:r>
                        <a:t>6.822 €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3"/>
                          </a:solidFill>
                          <a:latin typeface="Calibri"/>
                        </a:defRPr>
                      </a:pPr>
                      <a:r>
                        <a:t>606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3"/>
                          </a:solidFill>
                          <a:latin typeface="Calibri"/>
                        </a:defRPr>
                      </a:pPr>
                      <a:r>
                        <a:t>11,28 €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3"/>
                          </a:solidFill>
                          <a:latin typeface="Calibri"/>
                        </a:defRPr>
                      </a:pPr>
                      <a:r>
                        <a:t>348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251960"/>
            <a:ext cx="5577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6672"/>
                </a:solidFill>
                <a:latin typeface="Calibri"/>
              </a:rPr>
              <a:t>Typ b umfasst nur 17 Filialen, erzielt aber den höchsten Umsatz pro Tag bei gleichzeitig niedrigstem Bon — hohe Kundenfrequenz statt hoher Einzelkäufe. Kennzahlen und Ziele für Typ b sollten getrennt vom übrigen Netz gesteuert werden.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55448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A6672"/>
                </a:solidFill>
                <a:latin typeface="Calibri"/>
              </a:rPr>
              <a:t>Ø Umsatz/Tag je Filialtyp × Sortiment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965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5A6672"/>
                </a:solidFill>
                <a:latin typeface="Calibr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965960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5A6672"/>
                </a:solidFill>
                <a:latin typeface="Calibri"/>
              </a:rPr>
              <a:t>Basic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1965960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5A6672"/>
                </a:solidFill>
                <a:latin typeface="Calibri"/>
              </a:rPr>
              <a:t>Extended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1965960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5A6672"/>
                </a:solidFill>
                <a:latin typeface="Calibri"/>
              </a:rPr>
              <a:t>Extra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53288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2933"/>
                </a:solidFill>
                <a:latin typeface="Calibri"/>
              </a:rPr>
              <a:t>Typ 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2331720"/>
            <a:ext cx="1417320" cy="621792"/>
          </a:xfrm>
          <a:prstGeom prst="roundRect">
            <a:avLst>
              <a:gd name="adj" fmla="val 12000"/>
            </a:avLst>
          </a:prstGeom>
          <a:solidFill>
            <a:srgbClr val="D4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96312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F2933"/>
                </a:solidFill>
                <a:latin typeface="Calibri"/>
              </a:rPr>
              <a:t>6.538 €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2331720"/>
            <a:ext cx="1417320" cy="621792"/>
          </a:xfrm>
          <a:prstGeom prst="roundRect">
            <a:avLst>
              <a:gd name="adj" fmla="val 12000"/>
            </a:avLst>
          </a:prstGeom>
          <a:solidFill>
            <a:srgbClr val="C3D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23960" y="2496312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F2933"/>
                </a:solidFill>
                <a:latin typeface="Calibri"/>
              </a:rPr>
              <a:t>7.574 €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0" y="2331720"/>
            <a:ext cx="1417320" cy="621792"/>
          </a:xfrm>
          <a:prstGeom prst="roundRect">
            <a:avLst>
              <a:gd name="adj" fmla="val 12000"/>
            </a:avLst>
          </a:prstGeom>
          <a:solidFill>
            <a:srgbClr val="D8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0" y="2496312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4A0"/>
                </a:solidFill>
                <a:latin typeface="Calibri"/>
              </a:rPr>
              <a:t>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24612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2933"/>
                </a:solidFill>
                <a:latin typeface="Calibri"/>
              </a:rPr>
              <a:t>Typ 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3044952"/>
            <a:ext cx="1417320" cy="621792"/>
          </a:xfrm>
          <a:prstGeom prst="roundRect">
            <a:avLst>
              <a:gd name="adj" fmla="val 12000"/>
            </a:avLst>
          </a:prstGeom>
          <a:solidFill>
            <a:srgbClr val="87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3209544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F2933"/>
                </a:solidFill>
                <a:latin typeface="Calibri"/>
              </a:rPr>
              <a:t>11.134 €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23960" y="3044952"/>
            <a:ext cx="1417320" cy="621792"/>
          </a:xfrm>
          <a:prstGeom prst="roundRect">
            <a:avLst>
              <a:gd name="adj" fmla="val 12000"/>
            </a:avLst>
          </a:prstGeom>
          <a:solidFill>
            <a:srgbClr val="145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23960" y="3209544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17.970 €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0" y="3044952"/>
            <a:ext cx="1417320" cy="621792"/>
          </a:xfrm>
          <a:prstGeom prst="roundRect">
            <a:avLst>
              <a:gd name="adj" fmla="val 12000"/>
            </a:avLst>
          </a:prstGeom>
          <a:solidFill>
            <a:srgbClr val="B1C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0" y="3209544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F2933"/>
                </a:solidFill>
                <a:latin typeface="Calibri"/>
              </a:rPr>
              <a:t>8.643 €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95935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2933"/>
                </a:solidFill>
                <a:latin typeface="Calibri"/>
              </a:rPr>
              <a:t>Typ 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06640" y="3758184"/>
            <a:ext cx="1417320" cy="621792"/>
          </a:xfrm>
          <a:prstGeom prst="roundRect">
            <a:avLst>
              <a:gd name="adj" fmla="val 12000"/>
            </a:avLst>
          </a:prstGeom>
          <a:solidFill>
            <a:srgbClr val="CFE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3922776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F2933"/>
                </a:solidFill>
                <a:latin typeface="Calibri"/>
              </a:rPr>
              <a:t>6.836 €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23960" y="3758184"/>
            <a:ext cx="1417320" cy="621792"/>
          </a:xfrm>
          <a:prstGeom prst="roundRect">
            <a:avLst>
              <a:gd name="adj" fmla="val 12000"/>
            </a:avLst>
          </a:prstGeom>
          <a:solidFill>
            <a:srgbClr val="CC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23960" y="3922776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F2933"/>
                </a:solidFill>
                <a:latin typeface="Calibri"/>
              </a:rPr>
              <a:t>7.038 €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41280" y="3758184"/>
            <a:ext cx="1417320" cy="621792"/>
          </a:xfrm>
          <a:prstGeom prst="roundRect">
            <a:avLst>
              <a:gd name="adj" fmla="val 12000"/>
            </a:avLst>
          </a:prstGeom>
          <a:solidFill>
            <a:srgbClr val="D8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41280" y="3922776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4A0"/>
                </a:solidFill>
                <a:latin typeface="Calibri"/>
              </a:rPr>
              <a:t>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672584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2933"/>
                </a:solidFill>
                <a:latin typeface="Calibri"/>
              </a:rPr>
              <a:t>Typ 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06640" y="4471416"/>
            <a:ext cx="1417320" cy="621792"/>
          </a:xfrm>
          <a:prstGeom prst="roundRect">
            <a:avLst>
              <a:gd name="adj" fmla="val 12000"/>
            </a:avLst>
          </a:prstGeom>
          <a:solidFill>
            <a:srgbClr val="D6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0" y="4636008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F2933"/>
                </a:solidFill>
                <a:latin typeface="Calibri"/>
              </a:rPr>
              <a:t>6.434 €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23960" y="4471416"/>
            <a:ext cx="1417320" cy="621792"/>
          </a:xfrm>
          <a:prstGeom prst="roundRect">
            <a:avLst>
              <a:gd name="adj" fmla="val 12000"/>
            </a:avLst>
          </a:prstGeom>
          <a:solidFill>
            <a:srgbClr val="CC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23960" y="4636008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F2933"/>
                </a:solidFill>
                <a:latin typeface="Calibri"/>
              </a:rPr>
              <a:t>7.044 €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241280" y="4471416"/>
            <a:ext cx="1417320" cy="621792"/>
          </a:xfrm>
          <a:prstGeom prst="roundRect">
            <a:avLst>
              <a:gd name="adj" fmla="val 12000"/>
            </a:avLst>
          </a:prstGeom>
          <a:solidFill>
            <a:srgbClr val="D8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41280" y="4636008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4A0"/>
                </a:solidFill>
                <a:latin typeface="Calibri"/>
              </a:rPr>
              <a:t>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6672"/>
                </a:solidFill>
                <a:latin typeface="Calibri"/>
              </a:rPr>
              <a:t>Rossmann Store Sales — Strategische Analyse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A667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HANDLUNGSEMPFEHLUNGEN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Was das für die Steuerung des Filialnetzes bedeutet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C9A227"/>
                </a:solidFill>
                <a:latin typeface="Cambria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4937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Reporting auf robuste Kennzahlen umstellen — Dezil-Vergleich (Faktor 3) statt Min/Max (Faktor 8) für Filial-Benchmarking.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691640"/>
            <a:ext cx="502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C9A227"/>
                </a:solidFill>
                <a:latin typeface="Cambria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1691640"/>
            <a:ext cx="4937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Promo-Budget nach Filialtyp differenzieren — Typ a reagiert am stärksten (+43%), Investitionen dort priorisieren.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502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C9A227"/>
                </a:solidFill>
                <a:latin typeface="Cambria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4937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Feiertagsöffnung mit korrigierter Kennzahl bewerten — realer Uplift 17–36% je Filiale, nicht die naiven +40%.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3200400"/>
            <a:ext cx="502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C9A227"/>
                </a:solidFill>
                <a:latin typeface="Cambria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3200400"/>
            <a:ext cx="4937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Standortentscheidungen nicht allein an Wettbewerbsdistanz festmachen — Lagequalität ist der stärkere Faktor (r ≈ -0,05).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709160"/>
            <a:ext cx="502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C9A227"/>
                </a:solidFill>
                <a:latin typeface="Cambria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709160"/>
            <a:ext cx="4937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Filialtyp b separat steuern — eigenes Geschäftsmodell mit hoher Frequenz und niedrigem Bon.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709160"/>
            <a:ext cx="502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C9A227"/>
                </a:solidFill>
                <a:latin typeface="Cambria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4709160"/>
            <a:ext cx="4937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Personalplanung an Saisonalität ausrichten — Dezember-Peak sowie Montag-/Sonntag-Spitzen einpreisen.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6672"/>
                </a:solidFill>
                <a:latin typeface="Calibri"/>
              </a:rPr>
              <a:t>Rossmann Store Sales — Strategische Analyse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A667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METHODIK &amp; GRENZEN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45066"/>
                </a:solidFill>
                <a:latin typeface="Cambria"/>
              </a:rPr>
              <a:t>Was bei der Interpretation zu beachten 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39496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0000" dir="5400000" rotWithShape="0">
              <a:srgbClr val="1F29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84708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5066"/>
                </a:solidFill>
                <a:latin typeface="Calibri"/>
              </a:rPr>
              <a:t>Ausreißer bei 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304288"/>
            <a:ext cx="4937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A6672"/>
                </a:solidFill>
                <a:latin typeface="Calibri"/>
              </a:rPr>
              <a:t>Der rohe Faktor 8 (Min/Max) ist ausreißergetrieben; der belastbare typische Abstand zwischen Top- und Bottom-Filialen liegt bei Faktor 3 (Top-/Bottom-Dezil-Mittelwert).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39496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0000" dir="5400000" rotWithShape="0">
              <a:srgbClr val="1F29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2" y="184708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5066"/>
                </a:solidFill>
                <a:latin typeface="Calibri"/>
              </a:rPr>
              <a:t>Auswahleffekt bei Q4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8232" y="2304288"/>
            <a:ext cx="4937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A6672"/>
                </a:solidFill>
                <a:latin typeface="Calibri"/>
              </a:rPr>
              <a:t>Der naive Feiertags-Uplift (+40%) ist teilweise ein Auswahleffekt: Nur 156 von 1.115 Filialen öffnen überhaupt an Feiertagen. Der Store-Level-Vergleich zeigt einen kleineren, aber echten Effekt (+17 bis +36%).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77640"/>
            <a:ext cx="539496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0000" dir="5400000" rotWithShape="0">
              <a:srgbClr val="1F29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417880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5066"/>
                </a:solidFill>
                <a:latin typeface="Calibri"/>
              </a:rPr>
              <a:t>Keine Geodaten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636008"/>
            <a:ext cx="4937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A6672"/>
                </a:solidFill>
                <a:latin typeface="Calibri"/>
              </a:rPr>
              <a:t>Der Datensatz enthält keine Geodaten (keine Stadt, kein Bundesland, keine Koordinaten). Das Store-Ranking ersetzt bewusst eine Kartenansicht.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977640"/>
            <a:ext cx="539496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0000" dir="5400000" rotWithShape="0">
              <a:srgbClr val="1F29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417880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5066"/>
                </a:solidFill>
                <a:latin typeface="Calibri"/>
              </a:rPr>
              <a:t>Datenbasis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4636008"/>
            <a:ext cx="4937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A6672"/>
                </a:solidFill>
                <a:latin typeface="Calibri"/>
              </a:rPr>
              <a:t>Kaggle Rossmann Store Sales Wettbewerb: 1.017.209 Zeilen, 1.115 Filialen, Zeitraum 2013–2015. Diese Analyse ist eine datengetriebene Entscheidungsgrundlage, keine verbindliche Unternehmensberatung.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6672"/>
                </a:solidFill>
                <a:latin typeface="Calibri"/>
              </a:rPr>
              <a:t>Rossmann Store Sales — Strategische Analyse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A6672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Vielen Dank.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3375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D8DEE2"/>
                </a:solidFill>
                <a:latin typeface="Calibri"/>
              </a:rPr>
              <a:t>Das vollständige, interaktive Dashboard steht in diesem Projekt zur Verfügung: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49039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A227"/>
                </a:solidFill>
                <a:latin typeface="Calibri"/>
              </a:rPr>
              <a:t>08_rossmann_sales_analysis/dashboard/index.html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A94A0"/>
                </a:solidFill>
                <a:latin typeface="Calibri"/>
              </a:rPr>
              <a:t>Rossmann Store Sales — Strategische Analyse · Datenbasis: Kaggle Wettbewerb, 1.017.209 Zeilen, 1.115 Filialen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